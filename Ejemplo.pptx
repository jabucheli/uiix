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2" r:id="rId1"/>
  </p:sldMasterIdLst>
  <p:notesMasterIdLst>
    <p:notesMasterId r:id="rId15"/>
  </p:notesMasterIdLst>
  <p:sldIdLst>
    <p:sldId id="26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Arial Black" panose="020B0A04020102020204" pitchFamily="34" charset="0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C132404-2A40-4371-A2E5-1C33C21DFC7C}">
  <a:tblStyle styleId="{9C132404-2A40-4371-A2E5-1C33C21DFC7C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" name="Google Shape;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1" name="Google Shape;16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0" name="Google Shape;17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3" name="Google Shape;20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1" name="Google Shape;21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9" name="Google Shape;21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7" name="Google Shape;22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5" name="Google Shape;23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3" name="Google Shape;24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1" name="Google Shape;25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0" name="Google Shape;26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9_Title Slide">
  <p:cSld name="39_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 rot="5400000">
            <a:off x="6066543" y="1119144"/>
            <a:ext cx="58910" cy="10296911"/>
          </a:xfrm>
          <a:prstGeom prst="rect">
            <a:avLst/>
          </a:prstGeom>
          <a:solidFill>
            <a:srgbClr val="006E49">
              <a:alpha val="764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6E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2" descr="Logotip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4796" y="6432240"/>
            <a:ext cx="223336" cy="2233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/>
        </p:nvSpPr>
        <p:spPr>
          <a:xfrm>
            <a:off x="1328132" y="6409355"/>
            <a:ext cx="602112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Universidad de Investigación e Innovación de México   |   Todos los derechos Reservados.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 txBox="1"/>
          <p:nvPr/>
        </p:nvSpPr>
        <p:spPr>
          <a:xfrm>
            <a:off x="7543386" y="6423778"/>
            <a:ext cx="370106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16 Agosto 2022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3"/>
          <p:cNvGrpSpPr/>
          <p:nvPr/>
        </p:nvGrpSpPr>
        <p:grpSpPr>
          <a:xfrm>
            <a:off x="3" y="1044253"/>
            <a:ext cx="12192000" cy="148848"/>
            <a:chOff x="947543" y="777555"/>
            <a:chExt cx="10296911" cy="111446"/>
          </a:xfrm>
        </p:grpSpPr>
        <p:sp>
          <p:nvSpPr>
            <p:cNvPr id="17" name="Google Shape;17;p3"/>
            <p:cNvSpPr/>
            <p:nvPr/>
          </p:nvSpPr>
          <p:spPr>
            <a:xfrm rot="5400000">
              <a:off x="8139656" y="-2267315"/>
              <a:ext cx="58910" cy="6150688"/>
            </a:xfrm>
            <a:prstGeom prst="rect">
              <a:avLst/>
            </a:prstGeom>
            <a:solidFill>
              <a:srgbClr val="FF0000">
                <a:alpha val="76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3"/>
            <p:cNvSpPr/>
            <p:nvPr/>
          </p:nvSpPr>
          <p:spPr>
            <a:xfrm rot="5400000">
              <a:off x="2991200" y="-1266102"/>
              <a:ext cx="58910" cy="4146223"/>
            </a:xfrm>
            <a:prstGeom prst="rect">
              <a:avLst/>
            </a:prstGeom>
            <a:solidFill>
              <a:srgbClr val="497F64">
                <a:alpha val="76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6E4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3"/>
            <p:cNvSpPr/>
            <p:nvPr/>
          </p:nvSpPr>
          <p:spPr>
            <a:xfrm rot="5400000">
              <a:off x="6066544" y="-4288910"/>
              <a:ext cx="58910" cy="10296911"/>
            </a:xfrm>
            <a:prstGeom prst="rect">
              <a:avLst/>
            </a:prstGeom>
            <a:solidFill>
              <a:srgbClr val="0C0C0C">
                <a:alpha val="76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6E4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0" name="Google Shape;20;p3" descr="Imagen que contiene computadora, reloj, dibuj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56697" y="367959"/>
            <a:ext cx="2087757" cy="446657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/>
          <p:nvPr/>
        </p:nvSpPr>
        <p:spPr>
          <a:xfrm rot="5400000">
            <a:off x="6066543" y="1119144"/>
            <a:ext cx="58910" cy="10296911"/>
          </a:xfrm>
          <a:prstGeom prst="rect">
            <a:avLst/>
          </a:prstGeom>
          <a:solidFill>
            <a:srgbClr val="006E49">
              <a:alpha val="764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6E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Google Shape;22;p3" descr="Logotip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4796" y="6432240"/>
            <a:ext cx="223336" cy="223336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1328132" y="6409355"/>
            <a:ext cx="602112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Universidad de Investigación e Innovación de México   |   Todos los derechos Reservados.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 txBox="1"/>
          <p:nvPr/>
        </p:nvSpPr>
        <p:spPr>
          <a:xfrm>
            <a:off x="7543386" y="6423778"/>
            <a:ext cx="370106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16 Agosto 2022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 descr="Logotipo&#10;&#10;Descripción generada automáticamente"/>
          <p:cNvPicPr preferRelativeResize="0"/>
          <p:nvPr/>
        </p:nvPicPr>
        <p:blipFill rotWithShape="1">
          <a:blip r:embed="rId2">
            <a:alphaModFix amt="13000"/>
          </a:blip>
          <a:srcRect l="55116" r="16639"/>
          <a:stretch/>
        </p:blipFill>
        <p:spPr>
          <a:xfrm>
            <a:off x="-406287" y="-11231"/>
            <a:ext cx="2034923" cy="72045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oogle Shape;28;p5"/>
          <p:cNvGrpSpPr/>
          <p:nvPr/>
        </p:nvGrpSpPr>
        <p:grpSpPr>
          <a:xfrm>
            <a:off x="3" y="1044253"/>
            <a:ext cx="12192000" cy="148848"/>
            <a:chOff x="947543" y="777555"/>
            <a:chExt cx="10296911" cy="111446"/>
          </a:xfrm>
        </p:grpSpPr>
        <p:sp>
          <p:nvSpPr>
            <p:cNvPr id="29" name="Google Shape;29;p5"/>
            <p:cNvSpPr/>
            <p:nvPr/>
          </p:nvSpPr>
          <p:spPr>
            <a:xfrm rot="5400000">
              <a:off x="8139656" y="-2267315"/>
              <a:ext cx="58910" cy="6150688"/>
            </a:xfrm>
            <a:prstGeom prst="rect">
              <a:avLst/>
            </a:prstGeom>
            <a:solidFill>
              <a:srgbClr val="FF0000">
                <a:alpha val="76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5"/>
            <p:cNvSpPr/>
            <p:nvPr/>
          </p:nvSpPr>
          <p:spPr>
            <a:xfrm rot="5400000">
              <a:off x="2991200" y="-1266102"/>
              <a:ext cx="58910" cy="4146223"/>
            </a:xfrm>
            <a:prstGeom prst="rect">
              <a:avLst/>
            </a:prstGeom>
            <a:solidFill>
              <a:srgbClr val="497F64">
                <a:alpha val="76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6E4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5"/>
            <p:cNvSpPr/>
            <p:nvPr/>
          </p:nvSpPr>
          <p:spPr>
            <a:xfrm rot="5400000">
              <a:off x="6066544" y="-4288910"/>
              <a:ext cx="58910" cy="10296911"/>
            </a:xfrm>
            <a:prstGeom prst="rect">
              <a:avLst/>
            </a:prstGeom>
            <a:solidFill>
              <a:srgbClr val="0C0C0C">
                <a:alpha val="76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6E4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2" name="Google Shape;32;p5" descr="Imagen que contiene computadora, reloj, dibuj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56697" y="367959"/>
            <a:ext cx="2087757" cy="446657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5"/>
          <p:cNvSpPr/>
          <p:nvPr/>
        </p:nvSpPr>
        <p:spPr>
          <a:xfrm rot="5400000">
            <a:off x="6066543" y="1119144"/>
            <a:ext cx="58910" cy="10296911"/>
          </a:xfrm>
          <a:prstGeom prst="rect">
            <a:avLst/>
          </a:prstGeom>
          <a:solidFill>
            <a:srgbClr val="006E49">
              <a:alpha val="764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6E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" name="Google Shape;34;p5" descr="Logotipo&#10;&#10;Descripción generada automá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4796" y="6432240"/>
            <a:ext cx="223336" cy="22333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/>
        </p:nvSpPr>
        <p:spPr>
          <a:xfrm>
            <a:off x="1328132" y="6409355"/>
            <a:ext cx="602112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Universidad de Investigación e Innovación de México   |   Todos los derechos Reservados.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5"/>
          <p:cNvSpPr txBox="1"/>
          <p:nvPr/>
        </p:nvSpPr>
        <p:spPr>
          <a:xfrm>
            <a:off x="7543386" y="6423778"/>
            <a:ext cx="370106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16 Agosto 2022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" name="Google Shape;37;p5" descr="Mapa del mundo&#10;&#10;Descripción generada automáticamente con confianza media"/>
          <p:cNvPicPr preferRelativeResize="0"/>
          <p:nvPr/>
        </p:nvPicPr>
        <p:blipFill rotWithShape="1">
          <a:blip r:embed="rId5">
            <a:alphaModFix amt="13000"/>
          </a:blip>
          <a:srcRect/>
          <a:stretch/>
        </p:blipFill>
        <p:spPr>
          <a:xfrm>
            <a:off x="601178" y="0"/>
            <a:ext cx="10989643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/>
          <p:nvPr/>
        </p:nvSpPr>
        <p:spPr>
          <a:xfrm>
            <a:off x="0" y="1"/>
            <a:ext cx="12192000" cy="1828799"/>
          </a:xfrm>
          <a:prstGeom prst="rect">
            <a:avLst/>
          </a:prstGeom>
          <a:solidFill>
            <a:srgbClr val="262626"/>
          </a:solidFill>
          <a:ln w="12700" cap="flat" cmpd="sng">
            <a:solidFill>
              <a:srgbClr val="9D9D9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1" descr="Dibujo abstracto de colores&#10;&#10;Descripción generada automáticamente con confianza baja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9572688" y="12700"/>
            <a:ext cx="25841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"/>
          <p:cNvSpPr txBox="1"/>
          <p:nvPr/>
        </p:nvSpPr>
        <p:spPr>
          <a:xfrm>
            <a:off x="2005754" y="3087201"/>
            <a:ext cx="818041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MX" sz="1800" dirty="0"/>
              <a:t>Estrategia metodológica de gestión de proyectos basada en controles de ingeniería, orientada a la mejora de las condiciones de seguridad laboral y la prevención de riesgos en proyectos de construcción de la ciudad de Quito, en conformidad con la normativa ecuatoriana vigente entre 2024 y 2026</a:t>
            </a:r>
            <a:endParaRPr lang="es-EC" sz="1800" dirty="0"/>
          </a:p>
        </p:txBody>
      </p:sp>
      <p:pic>
        <p:nvPicPr>
          <p:cNvPr id="55" name="Google Shape;55;p1" descr="Imagen que contiene dibujo, reloj&#10;&#10;Descripción generada automá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22496" y="489718"/>
            <a:ext cx="3886644" cy="830997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"/>
          <p:cNvSpPr txBox="1"/>
          <p:nvPr/>
        </p:nvSpPr>
        <p:spPr>
          <a:xfrm>
            <a:off x="3479301" y="4556286"/>
            <a:ext cx="523473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6E49"/>
                </a:solidFill>
                <a:latin typeface="Arial"/>
                <a:ea typeface="Arial"/>
                <a:cs typeface="Arial"/>
                <a:sym typeface="Arial"/>
              </a:rPr>
              <a:t>DOCTORADO EN DIRECCIÓN DE PROYECTOS</a:t>
            </a:r>
            <a:endParaRPr dirty="0"/>
          </a:p>
        </p:txBody>
      </p:sp>
      <p:sp>
        <p:nvSpPr>
          <p:cNvPr id="57" name="Google Shape;57;p1"/>
          <p:cNvSpPr/>
          <p:nvPr/>
        </p:nvSpPr>
        <p:spPr>
          <a:xfrm>
            <a:off x="3747668" y="4976384"/>
            <a:ext cx="4836300" cy="35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 err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Candidato</a:t>
            </a:r>
            <a:r>
              <a:rPr lang="en-US" sz="1400" b="1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: Jorge Alexander </a:t>
            </a:r>
            <a:r>
              <a:rPr lang="en-US" sz="1400" b="1" dirty="0" err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Bucheli</a:t>
            </a:r>
            <a:r>
              <a:rPr lang="en-US" sz="1400" b="1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García</a:t>
            </a:r>
            <a:endParaRPr sz="1400" b="1" dirty="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-5714" y="0"/>
            <a:ext cx="77541" cy="4096512"/>
          </a:xfrm>
          <a:prstGeom prst="rect">
            <a:avLst/>
          </a:prstGeom>
          <a:solidFill>
            <a:srgbClr val="FF0000">
              <a:alpha val="7686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-7057" y="4096512"/>
            <a:ext cx="77541" cy="2761488"/>
          </a:xfrm>
          <a:prstGeom prst="rect">
            <a:avLst/>
          </a:prstGeom>
          <a:solidFill>
            <a:srgbClr val="497F64">
              <a:alpha val="7686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6E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"/>
          <p:cNvSpPr/>
          <p:nvPr/>
        </p:nvSpPr>
        <p:spPr>
          <a:xfrm>
            <a:off x="62095" y="0"/>
            <a:ext cx="77541" cy="6858000"/>
          </a:xfrm>
          <a:prstGeom prst="rect">
            <a:avLst/>
          </a:prstGeom>
          <a:solidFill>
            <a:srgbClr val="0C0C0C">
              <a:alpha val="7686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6E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" name="Google Shape;61;p1"/>
          <p:cNvGrpSpPr/>
          <p:nvPr/>
        </p:nvGrpSpPr>
        <p:grpSpPr>
          <a:xfrm>
            <a:off x="11821587" y="4872225"/>
            <a:ext cx="370413" cy="1345647"/>
            <a:chOff x="-972" y="5510679"/>
            <a:chExt cx="370413" cy="1345647"/>
          </a:xfrm>
        </p:grpSpPr>
        <p:sp>
          <p:nvSpPr>
            <p:cNvPr id="62" name="Google Shape;62;p1"/>
            <p:cNvSpPr/>
            <p:nvPr/>
          </p:nvSpPr>
          <p:spPr>
            <a:xfrm>
              <a:off x="-972" y="5510679"/>
              <a:ext cx="370413" cy="1345647"/>
            </a:xfrm>
            <a:prstGeom prst="rect">
              <a:avLst/>
            </a:prstGeom>
            <a:solidFill>
              <a:srgbClr val="C0242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1"/>
            <p:cNvSpPr txBox="1"/>
            <p:nvPr/>
          </p:nvSpPr>
          <p:spPr>
            <a:xfrm rot="-5400000">
              <a:off x="-329687" y="6060392"/>
              <a:ext cx="1027845" cy="246221"/>
            </a:xfrm>
            <a:prstGeom prst="rect">
              <a:avLst/>
            </a:prstGeom>
            <a:solidFill>
              <a:srgbClr val="C0242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ETIQUETA</a:t>
              </a:r>
              <a:endParaRPr sz="1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" name="Google Shape;135;p3">
            <a:extLst>
              <a:ext uri="{FF2B5EF4-FFF2-40B4-BE49-F238E27FC236}">
                <a16:creationId xmlns:a16="http://schemas.microsoft.com/office/drawing/2014/main" id="{397D2DAF-F106-4F32-8FCA-42EC03355CF4}"/>
              </a:ext>
            </a:extLst>
          </p:cNvPr>
          <p:cNvSpPr txBox="1"/>
          <p:nvPr/>
        </p:nvSpPr>
        <p:spPr>
          <a:xfrm>
            <a:off x="3351904" y="2165633"/>
            <a:ext cx="549220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C" sz="2800" dirty="0">
                <a:solidFill>
                  <a:srgbClr val="4C4A4F"/>
                </a:solidFill>
                <a:latin typeface="Arial"/>
                <a:ea typeface="Arial"/>
                <a:cs typeface="Arial"/>
                <a:sym typeface="Arial"/>
              </a:rPr>
              <a:t>Presentación Tesis Doctoral</a:t>
            </a:r>
            <a:endParaRPr sz="105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E486E78-FF38-8685-8A5B-239EFB86C48A}"/>
              </a:ext>
            </a:extLst>
          </p:cNvPr>
          <p:cNvSpPr txBox="1"/>
          <p:nvPr/>
        </p:nvSpPr>
        <p:spPr>
          <a:xfrm>
            <a:off x="3103837" y="5358971"/>
            <a:ext cx="6123962" cy="586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tabLst>
                <a:tab pos="1170305" algn="l"/>
              </a:tabLst>
            </a:pPr>
            <a:r>
              <a:rPr lang="es-EC" b="1" dirty="0">
                <a:solidFill>
                  <a:srgbClr val="595959"/>
                </a:solidFill>
              </a:rPr>
              <a:t>Asesora:</a:t>
            </a:r>
          </a:p>
          <a:p>
            <a:pPr algn="ctr">
              <a:lnSpc>
                <a:spcPct val="120000"/>
              </a:lnSpc>
              <a:tabLst>
                <a:tab pos="1170305" algn="l"/>
              </a:tabLst>
            </a:pPr>
            <a:r>
              <a:rPr lang="es-EC" b="1" dirty="0">
                <a:solidFill>
                  <a:srgbClr val="595959"/>
                </a:solidFill>
              </a:rPr>
              <a:t>Dra. Julia Ayuso, </a:t>
            </a:r>
            <a:r>
              <a:rPr lang="es-EC" b="1" dirty="0" err="1">
                <a:solidFill>
                  <a:srgbClr val="595959"/>
                </a:solidFill>
              </a:rPr>
              <a:t>Ph.D</a:t>
            </a:r>
            <a:r>
              <a:rPr lang="es-EC" b="1" dirty="0">
                <a:solidFill>
                  <a:srgbClr val="595959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/>
          <p:nvPr/>
        </p:nvSpPr>
        <p:spPr>
          <a:xfrm>
            <a:off x="3335381" y="1135468"/>
            <a:ext cx="549220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4C4A4F"/>
                </a:solidFill>
                <a:latin typeface="Arial"/>
                <a:ea typeface="Arial"/>
                <a:cs typeface="Arial"/>
                <a:sym typeface="Arial"/>
              </a:rPr>
              <a:t>Problematización</a:t>
            </a:r>
            <a:endParaRPr/>
          </a:p>
        </p:txBody>
      </p:sp>
      <p:grpSp>
        <p:nvGrpSpPr>
          <p:cNvPr id="59" name="Google Shape;59;p7"/>
          <p:cNvGrpSpPr/>
          <p:nvPr/>
        </p:nvGrpSpPr>
        <p:grpSpPr>
          <a:xfrm>
            <a:off x="11821587" y="4872225"/>
            <a:ext cx="370413" cy="1345647"/>
            <a:chOff x="-972" y="5510679"/>
            <a:chExt cx="370413" cy="1345647"/>
          </a:xfrm>
        </p:grpSpPr>
        <p:sp>
          <p:nvSpPr>
            <p:cNvPr id="60" name="Google Shape;60;p7"/>
            <p:cNvSpPr/>
            <p:nvPr/>
          </p:nvSpPr>
          <p:spPr>
            <a:xfrm>
              <a:off x="-972" y="5510679"/>
              <a:ext cx="370413" cy="1345647"/>
            </a:xfrm>
            <a:prstGeom prst="rect">
              <a:avLst/>
            </a:prstGeom>
            <a:solidFill>
              <a:srgbClr val="C0242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7"/>
            <p:cNvSpPr txBox="1"/>
            <p:nvPr/>
          </p:nvSpPr>
          <p:spPr>
            <a:xfrm rot="-5400000">
              <a:off x="-329687" y="6060392"/>
              <a:ext cx="1027845" cy="246221"/>
            </a:xfrm>
            <a:prstGeom prst="rect">
              <a:avLst/>
            </a:prstGeom>
            <a:solidFill>
              <a:srgbClr val="C0242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ETIQUETA</a:t>
              </a: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" name="Google Shape;62;p7"/>
          <p:cNvSpPr/>
          <p:nvPr/>
        </p:nvSpPr>
        <p:spPr>
          <a:xfrm>
            <a:off x="637722" y="2343225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637722" y="3306163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" name="Google Shape;64;p7"/>
          <p:cNvGrpSpPr/>
          <p:nvPr/>
        </p:nvGrpSpPr>
        <p:grpSpPr>
          <a:xfrm>
            <a:off x="897131" y="1846376"/>
            <a:ext cx="2136174" cy="4209532"/>
            <a:chOff x="1131814" y="3062"/>
            <a:chExt cx="2136174" cy="4209532"/>
          </a:xfrm>
        </p:grpSpPr>
        <p:sp>
          <p:nvSpPr>
            <p:cNvPr id="65" name="Google Shape;65;p7"/>
            <p:cNvSpPr/>
            <p:nvPr/>
          </p:nvSpPr>
          <p:spPr>
            <a:xfrm>
              <a:off x="1238189" y="3062"/>
              <a:ext cx="1923424" cy="623224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7"/>
            <p:cNvSpPr txBox="1"/>
            <p:nvPr/>
          </p:nvSpPr>
          <p:spPr>
            <a:xfrm>
              <a:off x="1256443" y="21316"/>
              <a:ext cx="1886916" cy="5867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Antecedentes de la problemática</a:t>
              </a:r>
              <a:endParaRPr/>
            </a:p>
          </p:txBody>
        </p:sp>
        <p:sp>
          <p:nvSpPr>
            <p:cNvPr id="67" name="Google Shape;67;p7"/>
            <p:cNvSpPr/>
            <p:nvPr/>
          </p:nvSpPr>
          <p:spPr>
            <a:xfrm rot="5400000">
              <a:off x="2057623" y="645257"/>
              <a:ext cx="284556" cy="341467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7"/>
            <p:cNvSpPr txBox="1"/>
            <p:nvPr/>
          </p:nvSpPr>
          <p:spPr>
            <a:xfrm>
              <a:off x="2097461" y="673713"/>
              <a:ext cx="204881" cy="1991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7"/>
            <p:cNvSpPr/>
            <p:nvPr/>
          </p:nvSpPr>
          <p:spPr>
            <a:xfrm>
              <a:off x="1131814" y="1005695"/>
              <a:ext cx="2136174" cy="620302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7"/>
            <p:cNvSpPr txBox="1"/>
            <p:nvPr/>
          </p:nvSpPr>
          <p:spPr>
            <a:xfrm>
              <a:off x="1149982" y="1023863"/>
              <a:ext cx="2099838" cy="583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7"/>
            <p:cNvSpPr/>
            <p:nvPr/>
          </p:nvSpPr>
          <p:spPr>
            <a:xfrm rot="5400000">
              <a:off x="2057623" y="1644968"/>
              <a:ext cx="284556" cy="341467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7"/>
            <p:cNvSpPr txBox="1"/>
            <p:nvPr/>
          </p:nvSpPr>
          <p:spPr>
            <a:xfrm>
              <a:off x="2097461" y="1673424"/>
              <a:ext cx="204881" cy="1991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7"/>
            <p:cNvSpPr/>
            <p:nvPr/>
          </p:nvSpPr>
          <p:spPr>
            <a:xfrm>
              <a:off x="1238189" y="2005407"/>
              <a:ext cx="1923424" cy="758817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7"/>
            <p:cNvSpPr txBox="1"/>
            <p:nvPr/>
          </p:nvSpPr>
          <p:spPr>
            <a:xfrm>
              <a:off x="1260414" y="2027632"/>
              <a:ext cx="1878974" cy="7143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7"/>
            <p:cNvSpPr/>
            <p:nvPr/>
          </p:nvSpPr>
          <p:spPr>
            <a:xfrm rot="5400000">
              <a:off x="2057623" y="2783195"/>
              <a:ext cx="284556" cy="341467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7"/>
            <p:cNvSpPr txBox="1"/>
            <p:nvPr/>
          </p:nvSpPr>
          <p:spPr>
            <a:xfrm>
              <a:off x="2097461" y="2811651"/>
              <a:ext cx="204881" cy="1991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7"/>
            <p:cNvSpPr/>
            <p:nvPr/>
          </p:nvSpPr>
          <p:spPr>
            <a:xfrm>
              <a:off x="1238189" y="3143633"/>
              <a:ext cx="1923424" cy="1068961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7"/>
            <p:cNvSpPr txBox="1"/>
            <p:nvPr/>
          </p:nvSpPr>
          <p:spPr>
            <a:xfrm>
              <a:off x="1269498" y="3174942"/>
              <a:ext cx="1860806" cy="10063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" name="Google Shape;79;p7"/>
          <p:cNvGrpSpPr/>
          <p:nvPr/>
        </p:nvGrpSpPr>
        <p:grpSpPr>
          <a:xfrm>
            <a:off x="-1051395" y="1108246"/>
            <a:ext cx="8569806" cy="5676643"/>
            <a:chOff x="-4764614" y="-730493"/>
            <a:chExt cx="8569806" cy="5676643"/>
          </a:xfrm>
        </p:grpSpPr>
        <p:sp>
          <p:nvSpPr>
            <p:cNvPr id="80" name="Google Shape;80;p7"/>
            <p:cNvSpPr/>
            <p:nvPr/>
          </p:nvSpPr>
          <p:spPr>
            <a:xfrm>
              <a:off x="-4764614" y="-730493"/>
              <a:ext cx="5676643" cy="5676643"/>
            </a:xfrm>
            <a:prstGeom prst="blockArc">
              <a:avLst>
                <a:gd name="adj1" fmla="val 18900000"/>
                <a:gd name="adj2" fmla="val 2700000"/>
                <a:gd name="adj3" fmla="val 381"/>
              </a:avLst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7"/>
            <p:cNvSpPr/>
            <p:nvPr/>
          </p:nvSpPr>
          <p:spPr>
            <a:xfrm>
              <a:off x="295728" y="191643"/>
              <a:ext cx="3509464" cy="383118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7"/>
            <p:cNvSpPr txBox="1"/>
            <p:nvPr/>
          </p:nvSpPr>
          <p:spPr>
            <a:xfrm>
              <a:off x="295728" y="191643"/>
              <a:ext cx="3509464" cy="3831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04100" tIns="30475" rIns="30475" bIns="304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Situación Problemática</a:t>
              </a:r>
              <a:endParaRPr/>
            </a:p>
          </p:txBody>
        </p:sp>
        <p:sp>
          <p:nvSpPr>
            <p:cNvPr id="83" name="Google Shape;83;p7"/>
            <p:cNvSpPr/>
            <p:nvPr/>
          </p:nvSpPr>
          <p:spPr>
            <a:xfrm>
              <a:off x="56279" y="143753"/>
              <a:ext cx="478898" cy="478898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7"/>
            <p:cNvSpPr/>
            <p:nvPr/>
          </p:nvSpPr>
          <p:spPr>
            <a:xfrm>
              <a:off x="642676" y="766659"/>
              <a:ext cx="3162516" cy="383118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7"/>
            <p:cNvSpPr txBox="1"/>
            <p:nvPr/>
          </p:nvSpPr>
          <p:spPr>
            <a:xfrm>
              <a:off x="642676" y="766659"/>
              <a:ext cx="3162516" cy="3831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04100" tIns="30475" rIns="30475" bIns="30475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7"/>
            <p:cNvSpPr/>
            <p:nvPr/>
          </p:nvSpPr>
          <p:spPr>
            <a:xfrm>
              <a:off x="403227" y="718769"/>
              <a:ext cx="478898" cy="478898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7"/>
            <p:cNvSpPr/>
            <p:nvPr/>
          </p:nvSpPr>
          <p:spPr>
            <a:xfrm>
              <a:off x="832803" y="1273768"/>
              <a:ext cx="2972389" cy="518087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7"/>
            <p:cNvSpPr txBox="1"/>
            <p:nvPr/>
          </p:nvSpPr>
          <p:spPr>
            <a:xfrm>
              <a:off x="832803" y="1273768"/>
              <a:ext cx="2972389" cy="518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04100" tIns="30475" rIns="30475" bIns="30475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7"/>
            <p:cNvSpPr/>
            <p:nvPr/>
          </p:nvSpPr>
          <p:spPr>
            <a:xfrm>
              <a:off x="593353" y="1293363"/>
              <a:ext cx="478898" cy="478898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7"/>
            <p:cNvSpPr/>
            <p:nvPr/>
          </p:nvSpPr>
          <p:spPr>
            <a:xfrm>
              <a:off x="893508" y="1916269"/>
              <a:ext cx="2911684" cy="383118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7"/>
            <p:cNvSpPr txBox="1"/>
            <p:nvPr/>
          </p:nvSpPr>
          <p:spPr>
            <a:xfrm>
              <a:off x="893508" y="1916269"/>
              <a:ext cx="2911684" cy="3831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04100" tIns="30475" rIns="30475" bIns="30475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7"/>
            <p:cNvSpPr/>
            <p:nvPr/>
          </p:nvSpPr>
          <p:spPr>
            <a:xfrm>
              <a:off x="654059" y="1868379"/>
              <a:ext cx="478898" cy="478898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7"/>
            <p:cNvSpPr/>
            <p:nvPr/>
          </p:nvSpPr>
          <p:spPr>
            <a:xfrm>
              <a:off x="832803" y="2438400"/>
              <a:ext cx="2972389" cy="488886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7"/>
            <p:cNvSpPr txBox="1"/>
            <p:nvPr/>
          </p:nvSpPr>
          <p:spPr>
            <a:xfrm>
              <a:off x="832803" y="2438400"/>
              <a:ext cx="2972389" cy="488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04100" tIns="30475" rIns="30475" bIns="30475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7"/>
            <p:cNvSpPr/>
            <p:nvPr/>
          </p:nvSpPr>
          <p:spPr>
            <a:xfrm>
              <a:off x="593353" y="2443394"/>
              <a:ext cx="478898" cy="478898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7"/>
            <p:cNvSpPr/>
            <p:nvPr/>
          </p:nvSpPr>
          <p:spPr>
            <a:xfrm>
              <a:off x="642676" y="3065878"/>
              <a:ext cx="3162516" cy="383118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7"/>
            <p:cNvSpPr txBox="1"/>
            <p:nvPr/>
          </p:nvSpPr>
          <p:spPr>
            <a:xfrm>
              <a:off x="642676" y="3065878"/>
              <a:ext cx="3162516" cy="3831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04100" tIns="30475" rIns="30475" bIns="30475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7"/>
            <p:cNvSpPr/>
            <p:nvPr/>
          </p:nvSpPr>
          <p:spPr>
            <a:xfrm>
              <a:off x="403227" y="3017988"/>
              <a:ext cx="478898" cy="478898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295728" y="3640894"/>
              <a:ext cx="3509464" cy="383118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7"/>
            <p:cNvSpPr txBox="1"/>
            <p:nvPr/>
          </p:nvSpPr>
          <p:spPr>
            <a:xfrm>
              <a:off x="295728" y="3640894"/>
              <a:ext cx="3509464" cy="3831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04100" tIns="30475" rIns="30475" bIns="30475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7"/>
            <p:cNvSpPr/>
            <p:nvPr/>
          </p:nvSpPr>
          <p:spPr>
            <a:xfrm>
              <a:off x="56279" y="3593004"/>
              <a:ext cx="478898" cy="478898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" name="Google Shape;102;p7"/>
          <p:cNvGrpSpPr/>
          <p:nvPr/>
        </p:nvGrpSpPr>
        <p:grpSpPr>
          <a:xfrm>
            <a:off x="7952529" y="1763473"/>
            <a:ext cx="3726801" cy="4370762"/>
            <a:chOff x="0" y="1897"/>
            <a:chExt cx="3726801" cy="4370762"/>
          </a:xfrm>
        </p:grpSpPr>
        <p:sp>
          <p:nvSpPr>
            <p:cNvPr id="103" name="Google Shape;103;p7"/>
            <p:cNvSpPr/>
            <p:nvPr/>
          </p:nvSpPr>
          <p:spPr>
            <a:xfrm>
              <a:off x="0" y="3935425"/>
              <a:ext cx="3726801" cy="437234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7"/>
            <p:cNvSpPr txBox="1"/>
            <p:nvPr/>
          </p:nvSpPr>
          <p:spPr>
            <a:xfrm>
              <a:off x="0" y="3935425"/>
              <a:ext cx="3726801" cy="4372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325" tIns="85325" rIns="85325" bIns="85325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7"/>
            <p:cNvSpPr/>
            <p:nvPr/>
          </p:nvSpPr>
          <p:spPr>
            <a:xfrm rot="10800000">
              <a:off x="0" y="3449892"/>
              <a:ext cx="3726801" cy="490314"/>
            </a:xfrm>
            <a:prstGeom prst="upArrowCallout">
              <a:avLst>
                <a:gd name="adj1" fmla="val 25000"/>
                <a:gd name="adj2" fmla="val 25000"/>
                <a:gd name="adj3" fmla="val 25000"/>
                <a:gd name="adj4" fmla="val 64977"/>
              </a:avLst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7"/>
            <p:cNvSpPr txBox="1"/>
            <p:nvPr/>
          </p:nvSpPr>
          <p:spPr>
            <a:xfrm>
              <a:off x="0" y="3449892"/>
              <a:ext cx="3726801" cy="3185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325" tIns="85325" rIns="85325" bIns="85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Campo de acción</a:t>
              </a:r>
              <a:endParaRPr/>
            </a:p>
          </p:txBody>
        </p:sp>
        <p:sp>
          <p:nvSpPr>
            <p:cNvPr id="107" name="Google Shape;107;p7"/>
            <p:cNvSpPr/>
            <p:nvPr/>
          </p:nvSpPr>
          <p:spPr>
            <a:xfrm rot="10800000">
              <a:off x="0" y="2489186"/>
              <a:ext cx="3726801" cy="965488"/>
            </a:xfrm>
            <a:prstGeom prst="upArrowCallout">
              <a:avLst>
                <a:gd name="adj1" fmla="val 25000"/>
                <a:gd name="adj2" fmla="val 25000"/>
                <a:gd name="adj3" fmla="val 25000"/>
                <a:gd name="adj4" fmla="val 64977"/>
              </a:avLst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7"/>
            <p:cNvSpPr txBox="1"/>
            <p:nvPr/>
          </p:nvSpPr>
          <p:spPr>
            <a:xfrm>
              <a:off x="0" y="2489186"/>
              <a:ext cx="3726801" cy="6273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325" tIns="85325" rIns="85325" bIns="85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7"/>
            <p:cNvSpPr/>
            <p:nvPr/>
          </p:nvSpPr>
          <p:spPr>
            <a:xfrm rot="10800000">
              <a:off x="0" y="2003653"/>
              <a:ext cx="3726801" cy="490314"/>
            </a:xfrm>
            <a:prstGeom prst="upArrowCallout">
              <a:avLst>
                <a:gd name="adj1" fmla="val 25000"/>
                <a:gd name="adj2" fmla="val 25000"/>
                <a:gd name="adj3" fmla="val 25000"/>
                <a:gd name="adj4" fmla="val 64977"/>
              </a:avLst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7"/>
            <p:cNvSpPr txBox="1"/>
            <p:nvPr/>
          </p:nvSpPr>
          <p:spPr>
            <a:xfrm>
              <a:off x="0" y="2003653"/>
              <a:ext cx="3726801" cy="3185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325" tIns="85325" rIns="85325" bIns="85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Objeto de estudio</a:t>
              </a:r>
              <a:endParaRPr/>
            </a:p>
          </p:txBody>
        </p:sp>
        <p:sp>
          <p:nvSpPr>
            <p:cNvPr id="111" name="Google Shape;111;p7"/>
            <p:cNvSpPr/>
            <p:nvPr/>
          </p:nvSpPr>
          <p:spPr>
            <a:xfrm rot="10800000">
              <a:off x="0" y="487430"/>
              <a:ext cx="3726801" cy="1521005"/>
            </a:xfrm>
            <a:prstGeom prst="upArrowCallout">
              <a:avLst>
                <a:gd name="adj1" fmla="val 25000"/>
                <a:gd name="adj2" fmla="val 25000"/>
                <a:gd name="adj3" fmla="val 25000"/>
                <a:gd name="adj4" fmla="val 64977"/>
              </a:avLst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7"/>
            <p:cNvSpPr txBox="1"/>
            <p:nvPr/>
          </p:nvSpPr>
          <p:spPr>
            <a:xfrm>
              <a:off x="0" y="487430"/>
              <a:ext cx="3726801" cy="988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325" tIns="85325" rIns="85325" bIns="85325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7"/>
            <p:cNvSpPr/>
            <p:nvPr/>
          </p:nvSpPr>
          <p:spPr>
            <a:xfrm rot="10800000">
              <a:off x="0" y="1897"/>
              <a:ext cx="3726801" cy="490314"/>
            </a:xfrm>
            <a:prstGeom prst="upArrowCallout">
              <a:avLst>
                <a:gd name="adj1" fmla="val 25000"/>
                <a:gd name="adj2" fmla="val 25000"/>
                <a:gd name="adj3" fmla="val 25000"/>
                <a:gd name="adj4" fmla="val 64977"/>
              </a:avLst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7"/>
            <p:cNvSpPr txBox="1"/>
            <p:nvPr/>
          </p:nvSpPr>
          <p:spPr>
            <a:xfrm>
              <a:off x="0" y="1897"/>
              <a:ext cx="3726801" cy="3185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325" tIns="85325" rIns="85325" bIns="85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Pregunta de investigación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/>
        </p:nvSpPr>
        <p:spPr>
          <a:xfrm>
            <a:off x="3376022" y="1171186"/>
            <a:ext cx="549220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4C4A4F"/>
                </a:solidFill>
                <a:latin typeface="Arial"/>
                <a:ea typeface="Arial"/>
                <a:cs typeface="Arial"/>
                <a:sym typeface="Arial"/>
              </a:rPr>
              <a:t>Objetivos, Hipótesis </a:t>
            </a:r>
            <a:endParaRPr/>
          </a:p>
        </p:txBody>
      </p:sp>
      <p:grpSp>
        <p:nvGrpSpPr>
          <p:cNvPr id="120" name="Google Shape;120;p8"/>
          <p:cNvGrpSpPr/>
          <p:nvPr/>
        </p:nvGrpSpPr>
        <p:grpSpPr>
          <a:xfrm>
            <a:off x="11821587" y="4872225"/>
            <a:ext cx="370413" cy="1345647"/>
            <a:chOff x="-972" y="5510679"/>
            <a:chExt cx="370413" cy="1345647"/>
          </a:xfrm>
        </p:grpSpPr>
        <p:sp>
          <p:nvSpPr>
            <p:cNvPr id="121" name="Google Shape;121;p8"/>
            <p:cNvSpPr/>
            <p:nvPr/>
          </p:nvSpPr>
          <p:spPr>
            <a:xfrm>
              <a:off x="-972" y="5510679"/>
              <a:ext cx="370413" cy="1345647"/>
            </a:xfrm>
            <a:prstGeom prst="rect">
              <a:avLst/>
            </a:prstGeom>
            <a:solidFill>
              <a:srgbClr val="C0242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8"/>
            <p:cNvSpPr txBox="1"/>
            <p:nvPr/>
          </p:nvSpPr>
          <p:spPr>
            <a:xfrm rot="-5400000">
              <a:off x="-329687" y="6060392"/>
              <a:ext cx="1027845" cy="246221"/>
            </a:xfrm>
            <a:prstGeom prst="rect">
              <a:avLst/>
            </a:prstGeom>
            <a:solidFill>
              <a:srgbClr val="C0242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ETIQUETA</a:t>
              </a: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Google Shape;123;p8"/>
          <p:cNvGrpSpPr/>
          <p:nvPr/>
        </p:nvGrpSpPr>
        <p:grpSpPr>
          <a:xfrm>
            <a:off x="896331" y="1930319"/>
            <a:ext cx="5501892" cy="4125593"/>
            <a:chOff x="189742" y="0"/>
            <a:chExt cx="5501892" cy="4125593"/>
          </a:xfrm>
        </p:grpSpPr>
        <p:sp>
          <p:nvSpPr>
            <p:cNvPr id="124" name="Google Shape;124;p8"/>
            <p:cNvSpPr/>
            <p:nvPr/>
          </p:nvSpPr>
          <p:spPr>
            <a:xfrm>
              <a:off x="1478300" y="1178786"/>
              <a:ext cx="1413799" cy="34683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65916"/>
                  </a:lnTo>
                  <a:lnTo>
                    <a:pt x="0" y="65916"/>
                  </a:lnTo>
                  <a:lnTo>
                    <a:pt x="0" y="12000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8"/>
            <p:cNvSpPr txBox="1"/>
            <p:nvPr/>
          </p:nvSpPr>
          <p:spPr>
            <a:xfrm>
              <a:off x="2148617" y="1350242"/>
              <a:ext cx="73165" cy="3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8"/>
            <p:cNvSpPr/>
            <p:nvPr/>
          </p:nvSpPr>
          <p:spPr>
            <a:xfrm>
              <a:off x="934827" y="0"/>
              <a:ext cx="3914544" cy="1180586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8"/>
            <p:cNvSpPr txBox="1"/>
            <p:nvPr/>
          </p:nvSpPr>
          <p:spPr>
            <a:xfrm>
              <a:off x="934827" y="0"/>
              <a:ext cx="3914544" cy="11805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325" tIns="85325" rIns="85325" bIns="85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Objetivo general</a:t>
              </a:r>
              <a:endParaRPr sz="12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128" name="Google Shape;128;p8"/>
            <p:cNvSpPr/>
            <p:nvPr/>
          </p:nvSpPr>
          <p:spPr>
            <a:xfrm>
              <a:off x="2765058" y="2024118"/>
              <a:ext cx="621556" cy="9144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32110"/>
                  </a:moveTo>
                  <a:lnTo>
                    <a:pt x="63301" y="132110"/>
                  </a:lnTo>
                  <a:lnTo>
                    <a:pt x="63301" y="60000"/>
                  </a:lnTo>
                  <a:lnTo>
                    <a:pt x="120000" y="6000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8"/>
            <p:cNvSpPr txBox="1"/>
            <p:nvPr/>
          </p:nvSpPr>
          <p:spPr>
            <a:xfrm>
              <a:off x="3059474" y="2067876"/>
              <a:ext cx="32723" cy="3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8"/>
            <p:cNvSpPr/>
            <p:nvPr/>
          </p:nvSpPr>
          <p:spPr>
            <a:xfrm>
              <a:off x="189742" y="1558021"/>
              <a:ext cx="2577116" cy="113353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8"/>
            <p:cNvSpPr txBox="1"/>
            <p:nvPr/>
          </p:nvSpPr>
          <p:spPr>
            <a:xfrm>
              <a:off x="189742" y="1558021"/>
              <a:ext cx="2577116" cy="11335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325" tIns="85325" rIns="85325" bIns="85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Objetivos específicos</a:t>
              </a:r>
              <a:endParaRPr sz="12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132" name="Google Shape;132;p8"/>
            <p:cNvSpPr/>
            <p:nvPr/>
          </p:nvSpPr>
          <p:spPr>
            <a:xfrm>
              <a:off x="1583452" y="2579854"/>
              <a:ext cx="2971871" cy="489705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64190"/>
                  </a:lnTo>
                  <a:lnTo>
                    <a:pt x="0" y="64190"/>
                  </a:lnTo>
                  <a:lnTo>
                    <a:pt x="0" y="12000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8"/>
            <p:cNvSpPr txBox="1"/>
            <p:nvPr/>
          </p:nvSpPr>
          <p:spPr>
            <a:xfrm>
              <a:off x="2993961" y="2822745"/>
              <a:ext cx="150853" cy="3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8"/>
            <p:cNvSpPr/>
            <p:nvPr/>
          </p:nvSpPr>
          <p:spPr>
            <a:xfrm>
              <a:off x="3419015" y="1558021"/>
              <a:ext cx="2272619" cy="1023633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8"/>
            <p:cNvSpPr txBox="1"/>
            <p:nvPr/>
          </p:nvSpPr>
          <p:spPr>
            <a:xfrm>
              <a:off x="3419015" y="1558021"/>
              <a:ext cx="2272619" cy="10236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325" tIns="85325" rIns="85325" bIns="85325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8"/>
            <p:cNvSpPr/>
            <p:nvPr/>
          </p:nvSpPr>
          <p:spPr>
            <a:xfrm>
              <a:off x="2710464" y="3568057"/>
              <a:ext cx="361792" cy="9144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8"/>
            <p:cNvSpPr txBox="1"/>
            <p:nvPr/>
          </p:nvSpPr>
          <p:spPr>
            <a:xfrm>
              <a:off x="2881551" y="3611815"/>
              <a:ext cx="19619" cy="3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8"/>
            <p:cNvSpPr/>
            <p:nvPr/>
          </p:nvSpPr>
          <p:spPr>
            <a:xfrm>
              <a:off x="454641" y="3101960"/>
              <a:ext cx="2257623" cy="1023633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8"/>
            <p:cNvSpPr txBox="1"/>
            <p:nvPr/>
          </p:nvSpPr>
          <p:spPr>
            <a:xfrm>
              <a:off x="454641" y="3101960"/>
              <a:ext cx="2257623" cy="10236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325" tIns="85325" rIns="85325" bIns="85325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8"/>
            <p:cNvSpPr/>
            <p:nvPr/>
          </p:nvSpPr>
          <p:spPr>
            <a:xfrm>
              <a:off x="3104657" y="3101960"/>
              <a:ext cx="2445220" cy="1023633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8"/>
            <p:cNvSpPr txBox="1"/>
            <p:nvPr/>
          </p:nvSpPr>
          <p:spPr>
            <a:xfrm>
              <a:off x="3104657" y="3101960"/>
              <a:ext cx="2445220" cy="10236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325" tIns="85325" rIns="85325" bIns="85325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2" name="Google Shape;142;p8"/>
          <p:cNvGrpSpPr/>
          <p:nvPr/>
        </p:nvGrpSpPr>
        <p:grpSpPr>
          <a:xfrm>
            <a:off x="6759277" y="2428016"/>
            <a:ext cx="4457360" cy="2796288"/>
            <a:chOff x="800167" y="338796"/>
            <a:chExt cx="4457360" cy="2796288"/>
          </a:xfrm>
        </p:grpSpPr>
        <p:sp>
          <p:nvSpPr>
            <p:cNvPr id="143" name="Google Shape;143;p8"/>
            <p:cNvSpPr/>
            <p:nvPr/>
          </p:nvSpPr>
          <p:spPr>
            <a:xfrm>
              <a:off x="2066044" y="2054332"/>
              <a:ext cx="85715" cy="85715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8"/>
            <p:cNvSpPr/>
            <p:nvPr/>
          </p:nvSpPr>
          <p:spPr>
            <a:xfrm>
              <a:off x="1990957" y="2174662"/>
              <a:ext cx="85715" cy="85715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8"/>
            <p:cNvSpPr/>
            <p:nvPr/>
          </p:nvSpPr>
          <p:spPr>
            <a:xfrm>
              <a:off x="1901470" y="2278842"/>
              <a:ext cx="85715" cy="85715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8"/>
            <p:cNvSpPr/>
            <p:nvPr/>
          </p:nvSpPr>
          <p:spPr>
            <a:xfrm>
              <a:off x="2008443" y="843293"/>
              <a:ext cx="85715" cy="85715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8"/>
            <p:cNvSpPr/>
            <p:nvPr/>
          </p:nvSpPr>
          <p:spPr>
            <a:xfrm>
              <a:off x="2122959" y="775053"/>
              <a:ext cx="85715" cy="85715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8"/>
            <p:cNvSpPr/>
            <p:nvPr/>
          </p:nvSpPr>
          <p:spPr>
            <a:xfrm>
              <a:off x="2237133" y="706812"/>
              <a:ext cx="85715" cy="85715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8"/>
            <p:cNvSpPr/>
            <p:nvPr/>
          </p:nvSpPr>
          <p:spPr>
            <a:xfrm>
              <a:off x="2351306" y="775053"/>
              <a:ext cx="85715" cy="85715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8"/>
            <p:cNvSpPr/>
            <p:nvPr/>
          </p:nvSpPr>
          <p:spPr>
            <a:xfrm>
              <a:off x="2465822" y="843293"/>
              <a:ext cx="85715" cy="85715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8"/>
            <p:cNvSpPr/>
            <p:nvPr/>
          </p:nvSpPr>
          <p:spPr>
            <a:xfrm>
              <a:off x="2237133" y="850800"/>
              <a:ext cx="85715" cy="85715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8"/>
            <p:cNvSpPr/>
            <p:nvPr/>
          </p:nvSpPr>
          <p:spPr>
            <a:xfrm>
              <a:off x="2237133" y="994787"/>
              <a:ext cx="85715" cy="85715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1539751" y="2591932"/>
              <a:ext cx="1848712" cy="495879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8"/>
            <p:cNvSpPr txBox="1"/>
            <p:nvPr/>
          </p:nvSpPr>
          <p:spPr>
            <a:xfrm>
              <a:off x="1563958" y="2616139"/>
              <a:ext cx="1800298" cy="4474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91300" tIns="80000" rIns="80000" bIns="80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lang="en-US" sz="21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Hipótesis</a:t>
              </a:r>
              <a:r>
                <a:rPr lang="en-US" sz="21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2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8"/>
            <p:cNvSpPr/>
            <p:nvPr/>
          </p:nvSpPr>
          <p:spPr>
            <a:xfrm>
              <a:off x="800167" y="2195396"/>
              <a:ext cx="945399" cy="939688"/>
            </a:xfrm>
            <a:prstGeom prst="ellipse">
              <a:avLst/>
            </a:prstGeom>
            <a:solidFill>
              <a:srgbClr val="CACACA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8"/>
            <p:cNvSpPr/>
            <p:nvPr/>
          </p:nvSpPr>
          <p:spPr>
            <a:xfrm>
              <a:off x="2694454" y="338796"/>
              <a:ext cx="2563073" cy="1994517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8"/>
            <p:cNvSpPr txBox="1"/>
            <p:nvPr/>
          </p:nvSpPr>
          <p:spPr>
            <a:xfrm>
              <a:off x="2791818" y="436160"/>
              <a:ext cx="2368345" cy="1799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91300" tIns="45700" rIns="45700" bIns="45700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8"/>
            <p:cNvSpPr/>
            <p:nvPr/>
          </p:nvSpPr>
          <p:spPr>
            <a:xfrm>
              <a:off x="1656538" y="1124241"/>
              <a:ext cx="897218" cy="909741"/>
            </a:xfrm>
            <a:prstGeom prst="ellipse">
              <a:avLst/>
            </a:prstGeom>
            <a:solidFill>
              <a:srgbClr val="CACACA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 txBox="1"/>
          <p:nvPr/>
        </p:nvSpPr>
        <p:spPr>
          <a:xfrm>
            <a:off x="0" y="1123152"/>
            <a:ext cx="1153956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4C4A4F"/>
                </a:solidFill>
                <a:latin typeface="Arial"/>
                <a:ea typeface="Arial"/>
                <a:cs typeface="Arial"/>
                <a:sym typeface="Arial"/>
              </a:rPr>
              <a:t>Teorías, conceptos, y referentes normativos o legales</a:t>
            </a:r>
            <a:endParaRPr sz="3600" b="0" i="0" u="none" strike="noStrike" cap="none">
              <a:solidFill>
                <a:srgbClr val="4C4A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4" name="Google Shape;164;p9"/>
          <p:cNvGrpSpPr/>
          <p:nvPr/>
        </p:nvGrpSpPr>
        <p:grpSpPr>
          <a:xfrm>
            <a:off x="11821587" y="4872225"/>
            <a:ext cx="370413" cy="1345647"/>
            <a:chOff x="-972" y="5510679"/>
            <a:chExt cx="370413" cy="1345647"/>
          </a:xfrm>
        </p:grpSpPr>
        <p:sp>
          <p:nvSpPr>
            <p:cNvPr id="165" name="Google Shape;165;p9"/>
            <p:cNvSpPr/>
            <p:nvPr/>
          </p:nvSpPr>
          <p:spPr>
            <a:xfrm>
              <a:off x="-972" y="5510679"/>
              <a:ext cx="370413" cy="1345647"/>
            </a:xfrm>
            <a:prstGeom prst="rect">
              <a:avLst/>
            </a:prstGeom>
            <a:solidFill>
              <a:srgbClr val="C0242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9"/>
            <p:cNvSpPr txBox="1"/>
            <p:nvPr/>
          </p:nvSpPr>
          <p:spPr>
            <a:xfrm rot="-5400000">
              <a:off x="-329687" y="6060392"/>
              <a:ext cx="1027845" cy="246221"/>
            </a:xfrm>
            <a:prstGeom prst="rect">
              <a:avLst/>
            </a:prstGeom>
            <a:solidFill>
              <a:srgbClr val="C0242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ETIQUETA</a:t>
              </a: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7" name="Google Shape;167;p9"/>
          <p:cNvSpPr/>
          <p:nvPr/>
        </p:nvSpPr>
        <p:spPr>
          <a:xfrm>
            <a:off x="3887694" y="2002136"/>
            <a:ext cx="3764172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ESTADO DEL ARTE (MARCO HISTÓRICO Y ACTUAL)</a:t>
            </a:r>
            <a:endParaRPr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"/>
          <p:cNvSpPr txBox="1"/>
          <p:nvPr/>
        </p:nvSpPr>
        <p:spPr>
          <a:xfrm>
            <a:off x="3075576" y="1239135"/>
            <a:ext cx="549220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4C4A4F"/>
                </a:solidFill>
                <a:latin typeface="Arial"/>
                <a:ea typeface="Arial"/>
                <a:cs typeface="Arial"/>
                <a:sym typeface="Arial"/>
              </a:rPr>
              <a:t>Metodología </a:t>
            </a:r>
            <a:endParaRPr/>
          </a:p>
        </p:txBody>
      </p:sp>
      <p:grpSp>
        <p:nvGrpSpPr>
          <p:cNvPr id="173" name="Google Shape;173;p10"/>
          <p:cNvGrpSpPr/>
          <p:nvPr/>
        </p:nvGrpSpPr>
        <p:grpSpPr>
          <a:xfrm>
            <a:off x="11821587" y="4872225"/>
            <a:ext cx="370413" cy="1345647"/>
            <a:chOff x="-972" y="5510679"/>
            <a:chExt cx="370413" cy="1345647"/>
          </a:xfrm>
        </p:grpSpPr>
        <p:sp>
          <p:nvSpPr>
            <p:cNvPr id="174" name="Google Shape;174;p10"/>
            <p:cNvSpPr/>
            <p:nvPr/>
          </p:nvSpPr>
          <p:spPr>
            <a:xfrm>
              <a:off x="-972" y="5510679"/>
              <a:ext cx="370413" cy="1345647"/>
            </a:xfrm>
            <a:prstGeom prst="rect">
              <a:avLst/>
            </a:prstGeom>
            <a:solidFill>
              <a:srgbClr val="C0242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0"/>
            <p:cNvSpPr txBox="1"/>
            <p:nvPr/>
          </p:nvSpPr>
          <p:spPr>
            <a:xfrm rot="-5400000">
              <a:off x="-329687" y="6060392"/>
              <a:ext cx="1027845" cy="246221"/>
            </a:xfrm>
            <a:prstGeom prst="rect">
              <a:avLst/>
            </a:prstGeom>
            <a:solidFill>
              <a:srgbClr val="C0242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ETIQUETA</a:t>
              </a: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6" name="Google Shape;176;p10"/>
          <p:cNvGrpSpPr/>
          <p:nvPr/>
        </p:nvGrpSpPr>
        <p:grpSpPr>
          <a:xfrm>
            <a:off x="563195" y="1888062"/>
            <a:ext cx="7470461" cy="3937970"/>
            <a:chOff x="1492" y="0"/>
            <a:chExt cx="7470461" cy="3937970"/>
          </a:xfrm>
        </p:grpSpPr>
        <p:sp>
          <p:nvSpPr>
            <p:cNvPr id="177" name="Google Shape;177;p10"/>
            <p:cNvSpPr/>
            <p:nvPr/>
          </p:nvSpPr>
          <p:spPr>
            <a:xfrm>
              <a:off x="1395311" y="922709"/>
              <a:ext cx="499095" cy="9144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64111" y="60000"/>
                  </a:lnTo>
                  <a:lnTo>
                    <a:pt x="64111" y="156425"/>
                  </a:lnTo>
                  <a:lnTo>
                    <a:pt x="120000" y="15642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10"/>
            <p:cNvSpPr txBox="1"/>
            <p:nvPr/>
          </p:nvSpPr>
          <p:spPr>
            <a:xfrm>
              <a:off x="1631489" y="966841"/>
              <a:ext cx="26738" cy="31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0"/>
            <p:cNvSpPr/>
            <p:nvPr/>
          </p:nvSpPr>
          <p:spPr>
            <a:xfrm>
              <a:off x="16185" y="554151"/>
              <a:ext cx="1380925" cy="828555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0"/>
            <p:cNvSpPr txBox="1"/>
            <p:nvPr/>
          </p:nvSpPr>
          <p:spPr>
            <a:xfrm>
              <a:off x="16185" y="554151"/>
              <a:ext cx="1380925" cy="8285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325" tIns="85325" rIns="85325" bIns="85325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Enfoque </a:t>
              </a:r>
              <a:endParaRPr/>
            </a:p>
            <a:p>
              <a:pPr marL="0" marR="0" lvl="0" indent="0" algn="just" rtl="0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0"/>
            <p:cNvSpPr/>
            <p:nvPr/>
          </p:nvSpPr>
          <p:spPr>
            <a:xfrm>
              <a:off x="3719642" y="949266"/>
              <a:ext cx="648000" cy="9144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1572"/>
                  </a:moveTo>
                  <a:lnTo>
                    <a:pt x="63167" y="121572"/>
                  </a:lnTo>
                  <a:lnTo>
                    <a:pt x="63167" y="60000"/>
                  </a:lnTo>
                  <a:lnTo>
                    <a:pt x="120000" y="6000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0"/>
            <p:cNvSpPr txBox="1"/>
            <p:nvPr/>
          </p:nvSpPr>
          <p:spPr>
            <a:xfrm>
              <a:off x="4026637" y="993398"/>
              <a:ext cx="34011" cy="31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0"/>
            <p:cNvSpPr/>
            <p:nvPr/>
          </p:nvSpPr>
          <p:spPr>
            <a:xfrm>
              <a:off x="1926806" y="627628"/>
              <a:ext cx="1794636" cy="828555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0"/>
            <p:cNvSpPr txBox="1"/>
            <p:nvPr/>
          </p:nvSpPr>
          <p:spPr>
            <a:xfrm>
              <a:off x="1926806" y="627628"/>
              <a:ext cx="1794636" cy="8285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325" tIns="85325" rIns="85325" bIns="85325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Diseño </a:t>
              </a:r>
              <a:endParaRPr/>
            </a:p>
          </p:txBody>
        </p:sp>
        <p:sp>
          <p:nvSpPr>
            <p:cNvPr id="185" name="Google Shape;185;p10"/>
            <p:cNvSpPr/>
            <p:nvPr/>
          </p:nvSpPr>
          <p:spPr>
            <a:xfrm>
              <a:off x="691955" y="1988173"/>
              <a:ext cx="4920180" cy="54123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63791"/>
                  </a:lnTo>
                  <a:lnTo>
                    <a:pt x="0" y="63791"/>
                  </a:lnTo>
                  <a:lnTo>
                    <a:pt x="0" y="12000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0"/>
            <p:cNvSpPr txBox="1"/>
            <p:nvPr/>
          </p:nvSpPr>
          <p:spPr>
            <a:xfrm>
              <a:off x="3028213" y="2257201"/>
              <a:ext cx="247664" cy="31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0"/>
            <p:cNvSpPr/>
            <p:nvPr/>
          </p:nvSpPr>
          <p:spPr>
            <a:xfrm>
              <a:off x="4400043" y="0"/>
              <a:ext cx="2424186" cy="1989973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0"/>
            <p:cNvSpPr txBox="1"/>
            <p:nvPr/>
          </p:nvSpPr>
          <p:spPr>
            <a:xfrm>
              <a:off x="4400043" y="0"/>
              <a:ext cx="2424186" cy="19899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325" tIns="85325" rIns="85325" bIns="85325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Tipo de investigación: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just" rtl="0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0"/>
            <p:cNvSpPr/>
            <p:nvPr/>
          </p:nvSpPr>
          <p:spPr>
            <a:xfrm>
              <a:off x="1380618" y="2976083"/>
              <a:ext cx="296416" cy="251865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66923" y="0"/>
                  </a:lnTo>
                  <a:lnTo>
                    <a:pt x="66923" y="120000"/>
                  </a:lnTo>
                  <a:lnTo>
                    <a:pt x="120000" y="12000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0"/>
            <p:cNvSpPr txBox="1"/>
            <p:nvPr/>
          </p:nvSpPr>
          <p:spPr>
            <a:xfrm>
              <a:off x="1518507" y="3100428"/>
              <a:ext cx="20638" cy="31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0"/>
            <p:cNvSpPr/>
            <p:nvPr/>
          </p:nvSpPr>
          <p:spPr>
            <a:xfrm>
              <a:off x="1492" y="2561805"/>
              <a:ext cx="1380925" cy="828555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0"/>
            <p:cNvSpPr txBox="1"/>
            <p:nvPr/>
          </p:nvSpPr>
          <p:spPr>
            <a:xfrm>
              <a:off x="1492" y="2561805"/>
              <a:ext cx="1380925" cy="8285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325" tIns="85325" rIns="85325" bIns="85325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Método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0"/>
            <p:cNvSpPr/>
            <p:nvPr/>
          </p:nvSpPr>
          <p:spPr>
            <a:xfrm>
              <a:off x="3441123" y="3138667"/>
              <a:ext cx="279101" cy="9144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17167"/>
                  </a:moveTo>
                  <a:lnTo>
                    <a:pt x="67352" y="117167"/>
                  </a:lnTo>
                  <a:lnTo>
                    <a:pt x="67352" y="60000"/>
                  </a:lnTo>
                  <a:lnTo>
                    <a:pt x="120000" y="6000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0"/>
            <p:cNvSpPr txBox="1"/>
            <p:nvPr/>
          </p:nvSpPr>
          <p:spPr>
            <a:xfrm>
              <a:off x="3572856" y="3182799"/>
              <a:ext cx="15637" cy="31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10"/>
            <p:cNvSpPr/>
            <p:nvPr/>
          </p:nvSpPr>
          <p:spPr>
            <a:xfrm>
              <a:off x="1709434" y="2517927"/>
              <a:ext cx="1733489" cy="1420043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0"/>
            <p:cNvSpPr txBox="1"/>
            <p:nvPr/>
          </p:nvSpPr>
          <p:spPr>
            <a:xfrm>
              <a:off x="1709434" y="2517927"/>
              <a:ext cx="1733489" cy="142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325" tIns="85325" rIns="85325" bIns="85325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Técnica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just" rtl="0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0"/>
            <p:cNvSpPr/>
            <p:nvPr/>
          </p:nvSpPr>
          <p:spPr>
            <a:xfrm>
              <a:off x="3752625" y="2430804"/>
              <a:ext cx="3719328" cy="1507166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0"/>
            <p:cNvSpPr txBox="1"/>
            <p:nvPr/>
          </p:nvSpPr>
          <p:spPr>
            <a:xfrm>
              <a:off x="3752625" y="2430804"/>
              <a:ext cx="3719328" cy="15071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325" tIns="85325" rIns="85325" bIns="85325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Instrumento 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9" name="Google Shape;199;p10"/>
          <p:cNvSpPr/>
          <p:nvPr/>
        </p:nvSpPr>
        <p:spPr>
          <a:xfrm>
            <a:off x="9316134" y="2489732"/>
            <a:ext cx="1039067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Población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0" name="Google Shape;200;p10"/>
          <p:cNvGraphicFramePr/>
          <p:nvPr/>
        </p:nvGraphicFramePr>
        <p:xfrm>
          <a:off x="8231372" y="3127298"/>
          <a:ext cx="3000000" cy="3000000"/>
        </p:xfrm>
        <a:graphic>
          <a:graphicData uri="http://schemas.openxmlformats.org/drawingml/2006/table">
            <a:tbl>
              <a:tblPr firstRow="1" firstCol="1" bandRow="1">
                <a:noFill/>
                <a:tableStyleId>{9C132404-2A40-4371-A2E5-1C33C21DFC7C}</a:tableStyleId>
              </a:tblPr>
              <a:tblGrid>
                <a:gridCol w="1069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622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/>
                        <a:t>Descripción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/>
                        <a:t>Cantidad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/>
                        <a:t>Porcentaje de la población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3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"/>
          <p:cNvSpPr txBox="1"/>
          <p:nvPr/>
        </p:nvSpPr>
        <p:spPr>
          <a:xfrm>
            <a:off x="3245393" y="1005262"/>
            <a:ext cx="549220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4C4A4F"/>
                </a:solidFill>
                <a:latin typeface="Arial"/>
                <a:ea typeface="Arial"/>
                <a:cs typeface="Arial"/>
                <a:sym typeface="Arial"/>
              </a:rPr>
              <a:t>Resultados </a:t>
            </a:r>
            <a:endParaRPr/>
          </a:p>
        </p:txBody>
      </p:sp>
      <p:grpSp>
        <p:nvGrpSpPr>
          <p:cNvPr id="206" name="Google Shape;206;p11"/>
          <p:cNvGrpSpPr/>
          <p:nvPr/>
        </p:nvGrpSpPr>
        <p:grpSpPr>
          <a:xfrm>
            <a:off x="11821587" y="4872225"/>
            <a:ext cx="370413" cy="1345647"/>
            <a:chOff x="-972" y="5510679"/>
            <a:chExt cx="370413" cy="1345647"/>
          </a:xfrm>
        </p:grpSpPr>
        <p:sp>
          <p:nvSpPr>
            <p:cNvPr id="207" name="Google Shape;207;p11"/>
            <p:cNvSpPr/>
            <p:nvPr/>
          </p:nvSpPr>
          <p:spPr>
            <a:xfrm>
              <a:off x="-972" y="5510679"/>
              <a:ext cx="370413" cy="1345647"/>
            </a:xfrm>
            <a:prstGeom prst="rect">
              <a:avLst/>
            </a:prstGeom>
            <a:solidFill>
              <a:srgbClr val="C0242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11"/>
            <p:cNvSpPr txBox="1"/>
            <p:nvPr/>
          </p:nvSpPr>
          <p:spPr>
            <a:xfrm rot="-5400000">
              <a:off x="-329687" y="6060392"/>
              <a:ext cx="1027845" cy="246221"/>
            </a:xfrm>
            <a:prstGeom prst="rect">
              <a:avLst/>
            </a:prstGeom>
            <a:solidFill>
              <a:srgbClr val="C0242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ETIQUETA</a:t>
              </a: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"/>
          <p:cNvSpPr txBox="1"/>
          <p:nvPr/>
        </p:nvSpPr>
        <p:spPr>
          <a:xfrm>
            <a:off x="3245393" y="1005262"/>
            <a:ext cx="549220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4C4A4F"/>
                </a:solidFill>
                <a:latin typeface="Arial"/>
                <a:ea typeface="Arial"/>
                <a:cs typeface="Arial"/>
                <a:sym typeface="Arial"/>
              </a:rPr>
              <a:t>Resultados </a:t>
            </a:r>
            <a:endParaRPr/>
          </a:p>
        </p:txBody>
      </p:sp>
      <p:grpSp>
        <p:nvGrpSpPr>
          <p:cNvPr id="214" name="Google Shape;214;p12"/>
          <p:cNvGrpSpPr/>
          <p:nvPr/>
        </p:nvGrpSpPr>
        <p:grpSpPr>
          <a:xfrm>
            <a:off x="11821587" y="4872225"/>
            <a:ext cx="370413" cy="1345647"/>
            <a:chOff x="-972" y="5510679"/>
            <a:chExt cx="370413" cy="1345647"/>
          </a:xfrm>
        </p:grpSpPr>
        <p:sp>
          <p:nvSpPr>
            <p:cNvPr id="215" name="Google Shape;215;p12"/>
            <p:cNvSpPr/>
            <p:nvPr/>
          </p:nvSpPr>
          <p:spPr>
            <a:xfrm>
              <a:off x="-972" y="5510679"/>
              <a:ext cx="370413" cy="1345647"/>
            </a:xfrm>
            <a:prstGeom prst="rect">
              <a:avLst/>
            </a:prstGeom>
            <a:solidFill>
              <a:srgbClr val="C0242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12"/>
            <p:cNvSpPr txBox="1"/>
            <p:nvPr/>
          </p:nvSpPr>
          <p:spPr>
            <a:xfrm rot="-5400000">
              <a:off x="-329687" y="6060392"/>
              <a:ext cx="1027845" cy="246221"/>
            </a:xfrm>
            <a:prstGeom prst="rect">
              <a:avLst/>
            </a:prstGeom>
            <a:solidFill>
              <a:srgbClr val="C0242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ETIQUETA</a:t>
              </a: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3"/>
          <p:cNvSpPr txBox="1"/>
          <p:nvPr/>
        </p:nvSpPr>
        <p:spPr>
          <a:xfrm>
            <a:off x="3245393" y="1005262"/>
            <a:ext cx="549220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4C4A4F"/>
                </a:solidFill>
                <a:latin typeface="Arial"/>
                <a:ea typeface="Arial"/>
                <a:cs typeface="Arial"/>
                <a:sym typeface="Arial"/>
              </a:rPr>
              <a:t>Resultados </a:t>
            </a:r>
            <a:endParaRPr/>
          </a:p>
        </p:txBody>
      </p:sp>
      <p:grpSp>
        <p:nvGrpSpPr>
          <p:cNvPr id="222" name="Google Shape;222;p13"/>
          <p:cNvGrpSpPr/>
          <p:nvPr/>
        </p:nvGrpSpPr>
        <p:grpSpPr>
          <a:xfrm>
            <a:off x="11821587" y="4872225"/>
            <a:ext cx="370413" cy="1345647"/>
            <a:chOff x="-972" y="5510679"/>
            <a:chExt cx="370413" cy="1345647"/>
          </a:xfrm>
        </p:grpSpPr>
        <p:sp>
          <p:nvSpPr>
            <p:cNvPr id="223" name="Google Shape;223;p13"/>
            <p:cNvSpPr/>
            <p:nvPr/>
          </p:nvSpPr>
          <p:spPr>
            <a:xfrm>
              <a:off x="-972" y="5510679"/>
              <a:ext cx="370413" cy="1345647"/>
            </a:xfrm>
            <a:prstGeom prst="rect">
              <a:avLst/>
            </a:prstGeom>
            <a:solidFill>
              <a:srgbClr val="C0242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13"/>
            <p:cNvSpPr txBox="1"/>
            <p:nvPr/>
          </p:nvSpPr>
          <p:spPr>
            <a:xfrm rot="-5400000">
              <a:off x="-329687" y="6060392"/>
              <a:ext cx="1027845" cy="246221"/>
            </a:xfrm>
            <a:prstGeom prst="rect">
              <a:avLst/>
            </a:prstGeom>
            <a:solidFill>
              <a:srgbClr val="C0242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ETIQUETA</a:t>
              </a: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4"/>
          <p:cNvSpPr txBox="1"/>
          <p:nvPr/>
        </p:nvSpPr>
        <p:spPr>
          <a:xfrm>
            <a:off x="1482435" y="1089110"/>
            <a:ext cx="9227127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4C4A4F"/>
                </a:solidFill>
                <a:latin typeface="Arial"/>
                <a:ea typeface="Arial"/>
                <a:cs typeface="Arial"/>
                <a:sym typeface="Arial"/>
              </a:rPr>
              <a:t>Estructura de la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4C4A4F"/>
                </a:solidFill>
                <a:latin typeface="Arial"/>
                <a:ea typeface="Arial"/>
                <a:cs typeface="Arial"/>
                <a:sym typeface="Arial"/>
              </a:rPr>
              <a:t>propuesta para la transformación social </a:t>
            </a:r>
            <a:endParaRPr sz="4000" b="0" i="0" u="none" strike="noStrike" cap="none">
              <a:solidFill>
                <a:srgbClr val="4C4A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0" name="Google Shape;230;p14"/>
          <p:cNvGrpSpPr/>
          <p:nvPr/>
        </p:nvGrpSpPr>
        <p:grpSpPr>
          <a:xfrm>
            <a:off x="11821587" y="4872225"/>
            <a:ext cx="370413" cy="1345647"/>
            <a:chOff x="-972" y="5510679"/>
            <a:chExt cx="370413" cy="1345647"/>
          </a:xfrm>
        </p:grpSpPr>
        <p:sp>
          <p:nvSpPr>
            <p:cNvPr id="231" name="Google Shape;231;p14"/>
            <p:cNvSpPr/>
            <p:nvPr/>
          </p:nvSpPr>
          <p:spPr>
            <a:xfrm>
              <a:off x="-972" y="5510679"/>
              <a:ext cx="370413" cy="1345647"/>
            </a:xfrm>
            <a:prstGeom prst="rect">
              <a:avLst/>
            </a:prstGeom>
            <a:solidFill>
              <a:srgbClr val="C0242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14"/>
            <p:cNvSpPr txBox="1"/>
            <p:nvPr/>
          </p:nvSpPr>
          <p:spPr>
            <a:xfrm rot="-5400000">
              <a:off x="-329687" y="6060392"/>
              <a:ext cx="1027845" cy="246221"/>
            </a:xfrm>
            <a:prstGeom prst="rect">
              <a:avLst/>
            </a:prstGeom>
            <a:solidFill>
              <a:srgbClr val="C0242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ETIQUETA</a:t>
              </a: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5"/>
          <p:cNvSpPr txBox="1"/>
          <p:nvPr/>
        </p:nvSpPr>
        <p:spPr>
          <a:xfrm>
            <a:off x="3349895" y="1305453"/>
            <a:ext cx="549220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4C4A4F"/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  <a:endParaRPr sz="4000" b="0" i="0" u="none" strike="noStrike" cap="none">
              <a:solidFill>
                <a:srgbClr val="4C4A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8" name="Google Shape;238;p15"/>
          <p:cNvGrpSpPr/>
          <p:nvPr/>
        </p:nvGrpSpPr>
        <p:grpSpPr>
          <a:xfrm>
            <a:off x="11821587" y="4872225"/>
            <a:ext cx="370413" cy="1345647"/>
            <a:chOff x="-972" y="5510679"/>
            <a:chExt cx="370413" cy="1345647"/>
          </a:xfrm>
        </p:grpSpPr>
        <p:sp>
          <p:nvSpPr>
            <p:cNvPr id="239" name="Google Shape;239;p15"/>
            <p:cNvSpPr/>
            <p:nvPr/>
          </p:nvSpPr>
          <p:spPr>
            <a:xfrm>
              <a:off x="-972" y="5510679"/>
              <a:ext cx="370413" cy="1345647"/>
            </a:xfrm>
            <a:prstGeom prst="rect">
              <a:avLst/>
            </a:prstGeom>
            <a:solidFill>
              <a:srgbClr val="C0242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15"/>
            <p:cNvSpPr txBox="1"/>
            <p:nvPr/>
          </p:nvSpPr>
          <p:spPr>
            <a:xfrm rot="-5400000">
              <a:off x="-329687" y="6060392"/>
              <a:ext cx="1027845" cy="246221"/>
            </a:xfrm>
            <a:prstGeom prst="rect">
              <a:avLst/>
            </a:prstGeom>
            <a:solidFill>
              <a:srgbClr val="C0242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ETIQUETA</a:t>
              </a: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"/>
          <p:cNvSpPr txBox="1"/>
          <p:nvPr/>
        </p:nvSpPr>
        <p:spPr>
          <a:xfrm>
            <a:off x="3349896" y="1657146"/>
            <a:ext cx="549220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4C4A4F"/>
                </a:solidFill>
                <a:latin typeface="Arial"/>
                <a:ea typeface="Arial"/>
                <a:cs typeface="Arial"/>
                <a:sym typeface="Arial"/>
              </a:rPr>
              <a:t>Recomendaciones</a:t>
            </a:r>
            <a:endParaRPr/>
          </a:p>
        </p:txBody>
      </p:sp>
      <p:grpSp>
        <p:nvGrpSpPr>
          <p:cNvPr id="246" name="Google Shape;246;p16"/>
          <p:cNvGrpSpPr/>
          <p:nvPr/>
        </p:nvGrpSpPr>
        <p:grpSpPr>
          <a:xfrm>
            <a:off x="11821587" y="4872225"/>
            <a:ext cx="370413" cy="1345647"/>
            <a:chOff x="-972" y="5510679"/>
            <a:chExt cx="370413" cy="1345647"/>
          </a:xfrm>
        </p:grpSpPr>
        <p:sp>
          <p:nvSpPr>
            <p:cNvPr id="247" name="Google Shape;247;p16"/>
            <p:cNvSpPr/>
            <p:nvPr/>
          </p:nvSpPr>
          <p:spPr>
            <a:xfrm>
              <a:off x="-972" y="5510679"/>
              <a:ext cx="370413" cy="1345647"/>
            </a:xfrm>
            <a:prstGeom prst="rect">
              <a:avLst/>
            </a:prstGeom>
            <a:solidFill>
              <a:srgbClr val="C0242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6"/>
            <p:cNvSpPr txBox="1"/>
            <p:nvPr/>
          </p:nvSpPr>
          <p:spPr>
            <a:xfrm rot="-5400000">
              <a:off x="-329687" y="6060392"/>
              <a:ext cx="1027845" cy="246221"/>
            </a:xfrm>
            <a:prstGeom prst="rect">
              <a:avLst/>
            </a:prstGeom>
            <a:solidFill>
              <a:srgbClr val="C0242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ETIQUETA</a:t>
              </a: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7"/>
          <p:cNvSpPr txBox="1"/>
          <p:nvPr/>
        </p:nvSpPr>
        <p:spPr>
          <a:xfrm>
            <a:off x="2435496" y="1490891"/>
            <a:ext cx="7234977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>
                <a:solidFill>
                  <a:srgbClr val="4C4A4F"/>
                </a:solidFill>
                <a:latin typeface="Arial"/>
                <a:ea typeface="Arial"/>
                <a:cs typeface="Arial"/>
                <a:sym typeface="Arial"/>
              </a:rPr>
              <a:t>Gracias por su atención </a:t>
            </a:r>
            <a:endParaRPr/>
          </a:p>
        </p:txBody>
      </p:sp>
      <p:grpSp>
        <p:nvGrpSpPr>
          <p:cNvPr id="254" name="Google Shape;254;p17"/>
          <p:cNvGrpSpPr/>
          <p:nvPr/>
        </p:nvGrpSpPr>
        <p:grpSpPr>
          <a:xfrm>
            <a:off x="11821587" y="4872225"/>
            <a:ext cx="370413" cy="1345647"/>
            <a:chOff x="-972" y="5510679"/>
            <a:chExt cx="370413" cy="1345647"/>
          </a:xfrm>
        </p:grpSpPr>
        <p:sp>
          <p:nvSpPr>
            <p:cNvPr id="255" name="Google Shape;255;p17"/>
            <p:cNvSpPr/>
            <p:nvPr/>
          </p:nvSpPr>
          <p:spPr>
            <a:xfrm>
              <a:off x="-972" y="5510679"/>
              <a:ext cx="370413" cy="1345647"/>
            </a:xfrm>
            <a:prstGeom prst="rect">
              <a:avLst/>
            </a:prstGeom>
            <a:solidFill>
              <a:srgbClr val="C0242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17"/>
            <p:cNvSpPr txBox="1"/>
            <p:nvPr/>
          </p:nvSpPr>
          <p:spPr>
            <a:xfrm rot="-5400000">
              <a:off x="-329687" y="6060392"/>
              <a:ext cx="1027845" cy="246221"/>
            </a:xfrm>
            <a:prstGeom prst="rect">
              <a:avLst/>
            </a:prstGeom>
            <a:solidFill>
              <a:srgbClr val="C0242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ETIQUETA</a:t>
              </a: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57" name="Google Shape;257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90217" y="2640657"/>
            <a:ext cx="4635127" cy="2904391"/>
          </a:xfrm>
          <a:prstGeom prst="rect">
            <a:avLst/>
          </a:prstGeom>
          <a:solidFill>
            <a:srgbClr val="ECECEC"/>
          </a:solidFill>
          <a:ln w="1905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5000" dist="50800" dir="12900000" kx="195000" ky="145000" algn="tl" rotWithShape="0">
              <a:srgbClr val="000000">
                <a:alpha val="29803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8"/>
          <p:cNvSpPr/>
          <p:nvPr/>
        </p:nvSpPr>
        <p:spPr>
          <a:xfrm>
            <a:off x="0" y="0"/>
            <a:ext cx="3735905" cy="6858000"/>
          </a:xfrm>
          <a:prstGeom prst="rect">
            <a:avLst/>
          </a:prstGeom>
          <a:solidFill>
            <a:srgbClr val="006E4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8"/>
          <p:cNvSpPr/>
          <p:nvPr/>
        </p:nvSpPr>
        <p:spPr>
          <a:xfrm>
            <a:off x="3715259" y="0"/>
            <a:ext cx="8466058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8"/>
          <p:cNvSpPr/>
          <p:nvPr/>
        </p:nvSpPr>
        <p:spPr>
          <a:xfrm>
            <a:off x="3714728" y="0"/>
            <a:ext cx="77541" cy="4096512"/>
          </a:xfrm>
          <a:prstGeom prst="rect">
            <a:avLst/>
          </a:prstGeom>
          <a:solidFill>
            <a:srgbClr val="FF0000">
              <a:alpha val="764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8"/>
          <p:cNvSpPr/>
          <p:nvPr/>
        </p:nvSpPr>
        <p:spPr>
          <a:xfrm>
            <a:off x="3713385" y="4096512"/>
            <a:ext cx="77541" cy="2761488"/>
          </a:xfrm>
          <a:prstGeom prst="rect">
            <a:avLst/>
          </a:prstGeom>
          <a:solidFill>
            <a:srgbClr val="497F64">
              <a:alpha val="764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6E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8"/>
          <p:cNvSpPr/>
          <p:nvPr/>
        </p:nvSpPr>
        <p:spPr>
          <a:xfrm>
            <a:off x="3790926" y="0"/>
            <a:ext cx="77541" cy="6858000"/>
          </a:xfrm>
          <a:prstGeom prst="rect">
            <a:avLst/>
          </a:prstGeom>
          <a:solidFill>
            <a:srgbClr val="0C0C0C">
              <a:alpha val="764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6E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8"/>
          <p:cNvSpPr/>
          <p:nvPr/>
        </p:nvSpPr>
        <p:spPr>
          <a:xfrm>
            <a:off x="4562794" y="5912404"/>
            <a:ext cx="159670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4C4A4F"/>
                </a:solidFill>
                <a:latin typeface="Arial"/>
                <a:ea typeface="Arial"/>
                <a:cs typeface="Arial"/>
                <a:sym typeface="Arial"/>
              </a:rPr>
              <a:t>contacto@uuuix.com </a:t>
            </a:r>
            <a:endParaRPr sz="1200" b="0" i="0" u="none" strike="noStrike" cap="none">
              <a:solidFill>
                <a:srgbClr val="4C4A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8"/>
          <p:cNvSpPr/>
          <p:nvPr/>
        </p:nvSpPr>
        <p:spPr>
          <a:xfrm>
            <a:off x="6955107" y="5910500"/>
            <a:ext cx="1364041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4C4A4F"/>
                </a:solidFill>
                <a:latin typeface="Arial"/>
                <a:ea typeface="Arial"/>
                <a:cs typeface="Arial"/>
                <a:sym typeface="Arial"/>
              </a:rPr>
              <a:t>+52 558 526 6275</a:t>
            </a:r>
            <a:endParaRPr sz="1100" b="0" i="0" u="none" strike="noStrike" cap="none">
              <a:solidFill>
                <a:srgbClr val="4C4A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8"/>
          <p:cNvSpPr/>
          <p:nvPr/>
        </p:nvSpPr>
        <p:spPr>
          <a:xfrm>
            <a:off x="6729662" y="5974545"/>
            <a:ext cx="185585" cy="185585"/>
          </a:xfrm>
          <a:custGeom>
            <a:avLst/>
            <a:gdLst/>
            <a:ahLst/>
            <a:cxnLst/>
            <a:rect l="l" t="t" r="r" b="b"/>
            <a:pathLst>
              <a:path w="1050" h="1050" extrusionOk="0">
                <a:moveTo>
                  <a:pt x="210" y="453"/>
                </a:moveTo>
                <a:cubicBezTo>
                  <a:pt x="295" y="617"/>
                  <a:pt x="431" y="754"/>
                  <a:pt x="595" y="839"/>
                </a:cubicBezTo>
                <a:lnTo>
                  <a:pt x="724" y="710"/>
                </a:lnTo>
                <a:cubicBezTo>
                  <a:pt x="740" y="694"/>
                  <a:pt x="765" y="688"/>
                  <a:pt x="784" y="696"/>
                </a:cubicBezTo>
                <a:cubicBezTo>
                  <a:pt x="850" y="718"/>
                  <a:pt x="921" y="729"/>
                  <a:pt x="992" y="729"/>
                </a:cubicBezTo>
                <a:cubicBezTo>
                  <a:pt x="1024" y="729"/>
                  <a:pt x="1049" y="754"/>
                  <a:pt x="1049" y="787"/>
                </a:cubicBezTo>
                <a:lnTo>
                  <a:pt x="1049" y="992"/>
                </a:lnTo>
                <a:cubicBezTo>
                  <a:pt x="1049" y="1024"/>
                  <a:pt x="1024" y="1049"/>
                  <a:pt x="992" y="1049"/>
                </a:cubicBezTo>
                <a:cubicBezTo>
                  <a:pt x="445" y="1049"/>
                  <a:pt x="0" y="604"/>
                  <a:pt x="0" y="57"/>
                </a:cubicBezTo>
                <a:cubicBezTo>
                  <a:pt x="0" y="24"/>
                  <a:pt x="24" y="0"/>
                  <a:pt x="57" y="0"/>
                </a:cubicBezTo>
                <a:lnTo>
                  <a:pt x="262" y="0"/>
                </a:lnTo>
                <a:cubicBezTo>
                  <a:pt x="295" y="0"/>
                  <a:pt x="319" y="24"/>
                  <a:pt x="319" y="57"/>
                </a:cubicBezTo>
                <a:cubicBezTo>
                  <a:pt x="319" y="131"/>
                  <a:pt x="330" y="199"/>
                  <a:pt x="352" y="265"/>
                </a:cubicBezTo>
                <a:cubicBezTo>
                  <a:pt x="358" y="284"/>
                  <a:pt x="355" y="308"/>
                  <a:pt x="339" y="325"/>
                </a:cubicBezTo>
                <a:lnTo>
                  <a:pt x="210" y="453"/>
                </a:lnTo>
              </a:path>
            </a:pathLst>
          </a:custGeom>
          <a:solidFill>
            <a:srgbClr val="4C4A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8"/>
          <p:cNvSpPr/>
          <p:nvPr/>
        </p:nvSpPr>
        <p:spPr>
          <a:xfrm>
            <a:off x="10363928" y="5956587"/>
            <a:ext cx="155217" cy="221499"/>
          </a:xfrm>
          <a:custGeom>
            <a:avLst/>
            <a:gdLst/>
            <a:ahLst/>
            <a:cxnLst/>
            <a:rect l="l" t="t" r="r" b="b"/>
            <a:pathLst>
              <a:path w="816" h="1166" extrusionOk="0">
                <a:moveTo>
                  <a:pt x="408" y="552"/>
                </a:moveTo>
                <a:cubicBezTo>
                  <a:pt x="487" y="552"/>
                  <a:pt x="553" y="488"/>
                  <a:pt x="553" y="408"/>
                </a:cubicBezTo>
                <a:cubicBezTo>
                  <a:pt x="553" y="329"/>
                  <a:pt x="488" y="263"/>
                  <a:pt x="408" y="263"/>
                </a:cubicBezTo>
                <a:cubicBezTo>
                  <a:pt x="329" y="263"/>
                  <a:pt x="263" y="329"/>
                  <a:pt x="263" y="408"/>
                </a:cubicBezTo>
                <a:cubicBezTo>
                  <a:pt x="263" y="488"/>
                  <a:pt x="328" y="552"/>
                  <a:pt x="408" y="552"/>
                </a:cubicBezTo>
                <a:close/>
                <a:moveTo>
                  <a:pt x="408" y="0"/>
                </a:moveTo>
                <a:cubicBezTo>
                  <a:pt x="635" y="0"/>
                  <a:pt x="815" y="181"/>
                  <a:pt x="815" y="408"/>
                </a:cubicBezTo>
                <a:cubicBezTo>
                  <a:pt x="815" y="714"/>
                  <a:pt x="408" y="1165"/>
                  <a:pt x="408" y="1165"/>
                </a:cubicBezTo>
                <a:cubicBezTo>
                  <a:pt x="408" y="1165"/>
                  <a:pt x="0" y="714"/>
                  <a:pt x="0" y="408"/>
                </a:cubicBezTo>
                <a:cubicBezTo>
                  <a:pt x="0" y="181"/>
                  <a:pt x="181" y="0"/>
                  <a:pt x="408" y="0"/>
                </a:cubicBezTo>
                <a:close/>
              </a:path>
            </a:pathLst>
          </a:custGeom>
          <a:solidFill>
            <a:srgbClr val="4C4A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8"/>
          <p:cNvSpPr/>
          <p:nvPr/>
        </p:nvSpPr>
        <p:spPr>
          <a:xfrm>
            <a:off x="4291354" y="5924858"/>
            <a:ext cx="232047" cy="221499"/>
          </a:xfrm>
          <a:custGeom>
            <a:avLst/>
            <a:gdLst/>
            <a:ahLst/>
            <a:cxnLst/>
            <a:rect l="l" t="t" r="r" b="b"/>
            <a:pathLst>
              <a:path w="1166" h="1111" extrusionOk="0">
                <a:moveTo>
                  <a:pt x="582" y="700"/>
                </a:moveTo>
                <a:lnTo>
                  <a:pt x="1063" y="400"/>
                </a:lnTo>
                <a:lnTo>
                  <a:pt x="582" y="118"/>
                </a:lnTo>
                <a:lnTo>
                  <a:pt x="101" y="400"/>
                </a:lnTo>
                <a:lnTo>
                  <a:pt x="582" y="700"/>
                </a:lnTo>
                <a:close/>
                <a:moveTo>
                  <a:pt x="1165" y="411"/>
                </a:moveTo>
                <a:lnTo>
                  <a:pt x="1165" y="993"/>
                </a:lnTo>
                <a:cubicBezTo>
                  <a:pt x="1165" y="1056"/>
                  <a:pt x="1113" y="1110"/>
                  <a:pt x="1050" y="1110"/>
                </a:cubicBezTo>
                <a:lnTo>
                  <a:pt x="115" y="1110"/>
                </a:lnTo>
                <a:cubicBezTo>
                  <a:pt x="52" y="1110"/>
                  <a:pt x="0" y="1056"/>
                  <a:pt x="0" y="993"/>
                </a:cubicBezTo>
                <a:lnTo>
                  <a:pt x="0" y="411"/>
                </a:lnTo>
                <a:cubicBezTo>
                  <a:pt x="0" y="369"/>
                  <a:pt x="22" y="328"/>
                  <a:pt x="55" y="309"/>
                </a:cubicBezTo>
                <a:lnTo>
                  <a:pt x="582" y="0"/>
                </a:lnTo>
                <a:lnTo>
                  <a:pt x="1110" y="309"/>
                </a:lnTo>
                <a:cubicBezTo>
                  <a:pt x="1143" y="328"/>
                  <a:pt x="1165" y="369"/>
                  <a:pt x="1165" y="411"/>
                </a:cubicBezTo>
                <a:close/>
              </a:path>
            </a:pathLst>
          </a:custGeom>
          <a:solidFill>
            <a:srgbClr val="4C4A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8"/>
          <p:cNvSpPr/>
          <p:nvPr/>
        </p:nvSpPr>
        <p:spPr>
          <a:xfrm>
            <a:off x="10581339" y="5910500"/>
            <a:ext cx="1364041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4C4A4F"/>
                </a:solidFill>
                <a:latin typeface="Arial"/>
                <a:ea typeface="Arial"/>
                <a:cs typeface="Arial"/>
                <a:sym typeface="Arial"/>
              </a:rPr>
              <a:t>Morelos, México.</a:t>
            </a:r>
            <a:endParaRPr sz="1100" b="0" i="0" u="none" strike="noStrike" cap="none">
              <a:solidFill>
                <a:srgbClr val="4C4A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8"/>
          <p:cNvSpPr/>
          <p:nvPr/>
        </p:nvSpPr>
        <p:spPr>
          <a:xfrm>
            <a:off x="8319137" y="5910500"/>
            <a:ext cx="1364041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4C4A4F"/>
                </a:solidFill>
                <a:latin typeface="Arial"/>
                <a:ea typeface="Arial"/>
                <a:cs typeface="Arial"/>
                <a:sym typeface="Arial"/>
              </a:rPr>
              <a:t>+52 558 526 6275</a:t>
            </a:r>
            <a:endParaRPr sz="1100" b="0" i="0" u="none" strike="noStrike" cap="none">
              <a:solidFill>
                <a:srgbClr val="4C4A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4" name="Google Shape;274;p18" descr="Dibujo abstracto de colores&#10;&#10;Descripción generada automáticamente con confianza baja"/>
          <p:cNvPicPr preferRelativeResize="0"/>
          <p:nvPr/>
        </p:nvPicPr>
        <p:blipFill rotWithShape="1">
          <a:blip r:embed="rId3">
            <a:alphaModFix amt="5000"/>
          </a:blip>
          <a:srcRect/>
          <a:stretch/>
        </p:blipFill>
        <p:spPr>
          <a:xfrm>
            <a:off x="9572688" y="12700"/>
            <a:ext cx="2584174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18" descr="Un hombre sentado en un escritorio&#10;&#10;Descripción generada automáticamente con confianza medi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1" y="1110798"/>
            <a:ext cx="6694252" cy="4462458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pic>
      <p:sp>
        <p:nvSpPr>
          <p:cNvPr id="276" name="Google Shape;276;p18"/>
          <p:cNvSpPr/>
          <p:nvPr/>
        </p:nvSpPr>
        <p:spPr>
          <a:xfrm>
            <a:off x="7315200" y="1112521"/>
            <a:ext cx="4495800" cy="4460735"/>
          </a:xfrm>
          <a:prstGeom prst="rect">
            <a:avLst/>
          </a:prstGeom>
          <a:solidFill>
            <a:srgbClr val="3A3838"/>
          </a:soli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7" name="Google Shape;277;p18"/>
          <p:cNvGrpSpPr/>
          <p:nvPr/>
        </p:nvGrpSpPr>
        <p:grpSpPr>
          <a:xfrm>
            <a:off x="7958971" y="2632427"/>
            <a:ext cx="3251200" cy="1480676"/>
            <a:chOff x="7937500" y="2840493"/>
            <a:chExt cx="3251200" cy="1480676"/>
          </a:xfrm>
        </p:grpSpPr>
        <p:sp>
          <p:nvSpPr>
            <p:cNvPr id="278" name="Google Shape;278;p18"/>
            <p:cNvSpPr txBox="1"/>
            <p:nvPr/>
          </p:nvSpPr>
          <p:spPr>
            <a:xfrm>
              <a:off x="7937500" y="2840493"/>
              <a:ext cx="3251200" cy="6592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19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endParaRPr sz="3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18"/>
            <p:cNvSpPr txBox="1"/>
            <p:nvPr/>
          </p:nvSpPr>
          <p:spPr>
            <a:xfrm>
              <a:off x="8040548" y="3767171"/>
              <a:ext cx="2926080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Universidad de Investigación e Innovación de México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0" name="Google Shape;280;p18"/>
          <p:cNvSpPr/>
          <p:nvPr/>
        </p:nvSpPr>
        <p:spPr>
          <a:xfrm>
            <a:off x="616121" y="628391"/>
            <a:ext cx="1364041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https://uiix.edu.mx</a:t>
            </a: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1" name="Google Shape;281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698" y="5820419"/>
            <a:ext cx="1646638" cy="352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0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D8D8D8"/>
      </a:accent1>
      <a:accent2>
        <a:srgbClr val="BFBFBF"/>
      </a:accent2>
      <a:accent3>
        <a:srgbClr val="A5A5A5"/>
      </a:accent3>
      <a:accent4>
        <a:srgbClr val="00BF98"/>
      </a:accent4>
      <a:accent5>
        <a:srgbClr val="BFBFBF"/>
      </a:accent5>
      <a:accent6>
        <a:srgbClr val="D8D8D8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195</Words>
  <Application>Microsoft Office PowerPoint</Application>
  <PresentationFormat>Panorámica</PresentationFormat>
  <Paragraphs>56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Calibri</vt:lpstr>
      <vt:lpstr>Arial Black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PC</dc:creator>
  <cp:lastModifiedBy>BUCHELI GARCIA JORGE ALEXANDER</cp:lastModifiedBy>
  <cp:revision>2</cp:revision>
  <dcterms:modified xsi:type="dcterms:W3CDTF">2026-10-07T15:08:09Z</dcterms:modified>
</cp:coreProperties>
</file>